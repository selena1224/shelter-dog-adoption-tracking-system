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50" d="100"/>
          <a:sy n="50" d="100"/>
        </p:scale>
        <p:origin x="56" y="1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F3B9DF-319C-443B-B2B1-5A3F428204F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2970BAC-EE4C-4ABC-BAB0-B03EE4CD8DC3}">
      <dgm:prSet/>
      <dgm:spPr/>
      <dgm:t>
        <a:bodyPr/>
        <a:lstStyle/>
        <a:p>
          <a:r>
            <a:rPr lang="en-US" b="1" dirty="0" err="1"/>
            <a:t>DogMatch_Q</a:t>
          </a:r>
          <a:r>
            <a:rPr lang="en-US" b="1" dirty="0"/>
            <a:t> Query: </a:t>
          </a:r>
          <a:r>
            <a:rPr lang="en-US" dirty="0"/>
            <a:t>Matches adopters with available dogs based on size, breed, and home type</a:t>
          </a:r>
        </a:p>
      </dgm:t>
    </dgm:pt>
    <dgm:pt modelId="{06965D7F-5317-462C-89A2-A7D59BE3E1AC}" type="parTrans" cxnId="{4B1EE3FC-C2C5-4B76-9EFC-A26F0C1955D2}">
      <dgm:prSet/>
      <dgm:spPr/>
      <dgm:t>
        <a:bodyPr/>
        <a:lstStyle/>
        <a:p>
          <a:endParaRPr lang="en-US"/>
        </a:p>
      </dgm:t>
    </dgm:pt>
    <dgm:pt modelId="{4A917AAC-3134-4262-83B8-85A7414EC956}" type="sibTrans" cxnId="{4B1EE3FC-C2C5-4B76-9EFC-A26F0C1955D2}">
      <dgm:prSet/>
      <dgm:spPr/>
      <dgm:t>
        <a:bodyPr/>
        <a:lstStyle/>
        <a:p>
          <a:endParaRPr lang="en-US"/>
        </a:p>
      </dgm:t>
    </dgm:pt>
    <dgm:pt modelId="{C950A962-24E3-4613-A704-7D68CD5B86A0}">
      <dgm:prSet/>
      <dgm:spPr/>
      <dgm:t>
        <a:bodyPr/>
        <a:lstStyle/>
        <a:p>
          <a:r>
            <a:rPr lang="en-US" b="1" dirty="0"/>
            <a:t>OccupancyRisk Query: </a:t>
          </a:r>
          <a:r>
            <a:rPr lang="en-US" dirty="0"/>
            <a:t>Identifies shelters over 70% capacity</a:t>
          </a:r>
        </a:p>
      </dgm:t>
    </dgm:pt>
    <dgm:pt modelId="{23FB5FAF-4691-4569-8433-47CECDA7B23C}" type="parTrans" cxnId="{6BB99C14-D6C8-46D6-98D0-8836C761511B}">
      <dgm:prSet/>
      <dgm:spPr/>
      <dgm:t>
        <a:bodyPr/>
        <a:lstStyle/>
        <a:p>
          <a:endParaRPr lang="en-US"/>
        </a:p>
      </dgm:t>
    </dgm:pt>
    <dgm:pt modelId="{3D289EA2-B584-4976-8714-94AD220514DA}" type="sibTrans" cxnId="{6BB99C14-D6C8-46D6-98D0-8836C761511B}">
      <dgm:prSet/>
      <dgm:spPr/>
      <dgm:t>
        <a:bodyPr/>
        <a:lstStyle/>
        <a:p>
          <a:endParaRPr lang="en-US"/>
        </a:p>
      </dgm:t>
    </dgm:pt>
    <dgm:pt modelId="{14ADCF9A-2575-47D7-B217-C2A1614A90CD}">
      <dgm:prSet/>
      <dgm:spPr/>
      <dgm:t>
        <a:bodyPr/>
        <a:lstStyle/>
        <a:p>
          <a:r>
            <a:rPr lang="en-US" b="1" dirty="0"/>
            <a:t>Adoption Report Query: </a:t>
          </a:r>
          <a:r>
            <a:rPr lang="en-US" dirty="0"/>
            <a:t>Tracks completed adoptions and updates dog statuses</a:t>
          </a:r>
        </a:p>
      </dgm:t>
    </dgm:pt>
    <dgm:pt modelId="{D0E5CCF1-8C0A-49F5-BEE7-AA215C411B56}" type="parTrans" cxnId="{E0401F9D-6EEC-4A18-8980-FBC1FD8CA0EA}">
      <dgm:prSet/>
      <dgm:spPr/>
      <dgm:t>
        <a:bodyPr/>
        <a:lstStyle/>
        <a:p>
          <a:endParaRPr lang="en-US"/>
        </a:p>
      </dgm:t>
    </dgm:pt>
    <dgm:pt modelId="{0955A54A-8DB6-4188-B018-9700035A892B}" type="sibTrans" cxnId="{E0401F9D-6EEC-4A18-8980-FBC1FD8CA0EA}">
      <dgm:prSet/>
      <dgm:spPr/>
      <dgm:t>
        <a:bodyPr/>
        <a:lstStyle/>
        <a:p>
          <a:endParaRPr lang="en-US"/>
        </a:p>
      </dgm:t>
    </dgm:pt>
    <dgm:pt modelId="{334CC4BB-0A20-4C1A-993A-28631F69E658}">
      <dgm:prSet/>
      <dgm:spPr/>
      <dgm:t>
        <a:bodyPr/>
        <a:lstStyle/>
        <a:p>
          <a:r>
            <a:rPr lang="en-US"/>
            <a:t>Queries automate search, reporting, and decision-making processes</a:t>
          </a:r>
        </a:p>
      </dgm:t>
    </dgm:pt>
    <dgm:pt modelId="{80C989D9-5CB0-4622-B46F-E64254F0B9BA}" type="parTrans" cxnId="{FE667818-B846-4F90-BCEF-C833D22C95DE}">
      <dgm:prSet/>
      <dgm:spPr/>
      <dgm:t>
        <a:bodyPr/>
        <a:lstStyle/>
        <a:p>
          <a:endParaRPr lang="en-US"/>
        </a:p>
      </dgm:t>
    </dgm:pt>
    <dgm:pt modelId="{15B3FD9E-0D9D-4BE4-BB87-44A0DFC36186}" type="sibTrans" cxnId="{FE667818-B846-4F90-BCEF-C833D22C95DE}">
      <dgm:prSet/>
      <dgm:spPr/>
      <dgm:t>
        <a:bodyPr/>
        <a:lstStyle/>
        <a:p>
          <a:endParaRPr lang="en-US"/>
        </a:p>
      </dgm:t>
    </dgm:pt>
    <dgm:pt modelId="{16930BE7-CBC7-4DE6-B6A6-9A2B91D3F2D0}" type="pres">
      <dgm:prSet presAssocID="{A8F3B9DF-319C-443B-B2B1-5A3F428204F8}" presName="root" presStyleCnt="0">
        <dgm:presLayoutVars>
          <dgm:dir/>
          <dgm:resizeHandles val="exact"/>
        </dgm:presLayoutVars>
      </dgm:prSet>
      <dgm:spPr/>
    </dgm:pt>
    <dgm:pt modelId="{DE19A116-AEC6-4F0C-BC61-60C28AED74B8}" type="pres">
      <dgm:prSet presAssocID="{A8F3B9DF-319C-443B-B2B1-5A3F428204F8}" presName="container" presStyleCnt="0">
        <dgm:presLayoutVars>
          <dgm:dir/>
          <dgm:resizeHandles val="exact"/>
        </dgm:presLayoutVars>
      </dgm:prSet>
      <dgm:spPr/>
    </dgm:pt>
    <dgm:pt modelId="{A759EA75-D768-478F-BC48-7158B7C337F3}" type="pres">
      <dgm:prSet presAssocID="{22970BAC-EE4C-4ABC-BAB0-B03EE4CD8DC3}" presName="compNode" presStyleCnt="0"/>
      <dgm:spPr/>
    </dgm:pt>
    <dgm:pt modelId="{FE16D26A-79CD-4E7B-80CF-9810F683BEB5}" type="pres">
      <dgm:prSet presAssocID="{22970BAC-EE4C-4ABC-BAB0-B03EE4CD8DC3}" presName="iconBgRect" presStyleLbl="bgShp" presStyleIdx="0" presStyleCnt="4"/>
      <dgm:spPr/>
    </dgm:pt>
    <dgm:pt modelId="{F789EE85-6D87-4BCC-80C9-26863031108A}" type="pres">
      <dgm:prSet presAssocID="{22970BAC-EE4C-4ABC-BAB0-B03EE4CD8DC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w Prints"/>
        </a:ext>
      </dgm:extLst>
    </dgm:pt>
    <dgm:pt modelId="{3E1A16B4-DE71-4158-8774-6F8EC1A9B988}" type="pres">
      <dgm:prSet presAssocID="{22970BAC-EE4C-4ABC-BAB0-B03EE4CD8DC3}" presName="spaceRect" presStyleCnt="0"/>
      <dgm:spPr/>
    </dgm:pt>
    <dgm:pt modelId="{68A7124A-3522-43E2-B25F-E23B9AD35813}" type="pres">
      <dgm:prSet presAssocID="{22970BAC-EE4C-4ABC-BAB0-B03EE4CD8DC3}" presName="textRect" presStyleLbl="revTx" presStyleIdx="0" presStyleCnt="4">
        <dgm:presLayoutVars>
          <dgm:chMax val="1"/>
          <dgm:chPref val="1"/>
        </dgm:presLayoutVars>
      </dgm:prSet>
      <dgm:spPr/>
    </dgm:pt>
    <dgm:pt modelId="{38DF0D13-BE5D-482C-AD00-530ED9623594}" type="pres">
      <dgm:prSet presAssocID="{4A917AAC-3134-4262-83B8-85A7414EC956}" presName="sibTrans" presStyleLbl="sibTrans2D1" presStyleIdx="0" presStyleCnt="0"/>
      <dgm:spPr/>
    </dgm:pt>
    <dgm:pt modelId="{E63EE60B-00A7-4DE0-88F3-E15DD84FA2E3}" type="pres">
      <dgm:prSet presAssocID="{C950A962-24E3-4613-A704-7D68CD5B86A0}" presName="compNode" presStyleCnt="0"/>
      <dgm:spPr/>
    </dgm:pt>
    <dgm:pt modelId="{F7936A84-B1A4-401C-B01F-2CCE0EE20EC9}" type="pres">
      <dgm:prSet presAssocID="{C950A962-24E3-4613-A704-7D68CD5B86A0}" presName="iconBgRect" presStyleLbl="bgShp" presStyleIdx="1" presStyleCnt="4"/>
      <dgm:spPr/>
    </dgm:pt>
    <dgm:pt modelId="{91DD1B03-8223-42C5-8FF7-76854DF59FD5}" type="pres">
      <dgm:prSet presAssocID="{C950A962-24E3-4613-A704-7D68CD5B86A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0C2213C1-344B-4E6B-BFCF-1F279AE695A6}" type="pres">
      <dgm:prSet presAssocID="{C950A962-24E3-4613-A704-7D68CD5B86A0}" presName="spaceRect" presStyleCnt="0"/>
      <dgm:spPr/>
    </dgm:pt>
    <dgm:pt modelId="{3FAF516E-0883-4DCC-9C34-239F1AF55246}" type="pres">
      <dgm:prSet presAssocID="{C950A962-24E3-4613-A704-7D68CD5B86A0}" presName="textRect" presStyleLbl="revTx" presStyleIdx="1" presStyleCnt="4">
        <dgm:presLayoutVars>
          <dgm:chMax val="1"/>
          <dgm:chPref val="1"/>
        </dgm:presLayoutVars>
      </dgm:prSet>
      <dgm:spPr/>
    </dgm:pt>
    <dgm:pt modelId="{AC324231-3045-4628-81A7-ECDA4239D970}" type="pres">
      <dgm:prSet presAssocID="{3D289EA2-B584-4976-8714-94AD220514DA}" presName="sibTrans" presStyleLbl="sibTrans2D1" presStyleIdx="0" presStyleCnt="0"/>
      <dgm:spPr/>
    </dgm:pt>
    <dgm:pt modelId="{D2C57430-A4C1-4AB8-B8B2-E3CBC4326ACA}" type="pres">
      <dgm:prSet presAssocID="{14ADCF9A-2575-47D7-B217-C2A1614A90CD}" presName="compNode" presStyleCnt="0"/>
      <dgm:spPr/>
    </dgm:pt>
    <dgm:pt modelId="{E673870E-8BF8-4794-A39A-DFEAC69D8D41}" type="pres">
      <dgm:prSet presAssocID="{14ADCF9A-2575-47D7-B217-C2A1614A90CD}" presName="iconBgRect" presStyleLbl="bgShp" presStyleIdx="2" presStyleCnt="4"/>
      <dgm:spPr/>
    </dgm:pt>
    <dgm:pt modelId="{4BD6BF21-7C35-4F54-BF76-061A1368BA47}" type="pres">
      <dgm:prSet presAssocID="{14ADCF9A-2575-47D7-B217-C2A1614A90C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g"/>
        </a:ext>
      </dgm:extLst>
    </dgm:pt>
    <dgm:pt modelId="{EEA0A569-07B1-4CAD-9B3E-C229830E4E5D}" type="pres">
      <dgm:prSet presAssocID="{14ADCF9A-2575-47D7-B217-C2A1614A90CD}" presName="spaceRect" presStyleCnt="0"/>
      <dgm:spPr/>
    </dgm:pt>
    <dgm:pt modelId="{4FA5F71E-CE33-441A-B664-3952C540F6E8}" type="pres">
      <dgm:prSet presAssocID="{14ADCF9A-2575-47D7-B217-C2A1614A90CD}" presName="textRect" presStyleLbl="revTx" presStyleIdx="2" presStyleCnt="4">
        <dgm:presLayoutVars>
          <dgm:chMax val="1"/>
          <dgm:chPref val="1"/>
        </dgm:presLayoutVars>
      </dgm:prSet>
      <dgm:spPr/>
    </dgm:pt>
    <dgm:pt modelId="{FB1C15EE-B0D8-4DBA-9EFD-D681C1B147F3}" type="pres">
      <dgm:prSet presAssocID="{0955A54A-8DB6-4188-B018-9700035A892B}" presName="sibTrans" presStyleLbl="sibTrans2D1" presStyleIdx="0" presStyleCnt="0"/>
      <dgm:spPr/>
    </dgm:pt>
    <dgm:pt modelId="{3FA8D624-8AB1-477C-9590-591C671E3DBF}" type="pres">
      <dgm:prSet presAssocID="{334CC4BB-0A20-4C1A-993A-28631F69E658}" presName="compNode" presStyleCnt="0"/>
      <dgm:spPr/>
    </dgm:pt>
    <dgm:pt modelId="{F1F2256A-1192-4935-BA1E-8A7C23B213C7}" type="pres">
      <dgm:prSet presAssocID="{334CC4BB-0A20-4C1A-993A-28631F69E658}" presName="iconBgRect" presStyleLbl="bgShp" presStyleIdx="3" presStyleCnt="4"/>
      <dgm:spPr/>
    </dgm:pt>
    <dgm:pt modelId="{25CF4825-AA68-4DFA-B7BB-9A672532AAE9}" type="pres">
      <dgm:prSet presAssocID="{334CC4BB-0A20-4C1A-993A-28631F69E65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372C8FEA-E213-4A87-90BA-AB617913F516}" type="pres">
      <dgm:prSet presAssocID="{334CC4BB-0A20-4C1A-993A-28631F69E658}" presName="spaceRect" presStyleCnt="0"/>
      <dgm:spPr/>
    </dgm:pt>
    <dgm:pt modelId="{7F0B29BB-597D-4E0E-A9FF-90DF880BD7E5}" type="pres">
      <dgm:prSet presAssocID="{334CC4BB-0A20-4C1A-993A-28631F69E65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1C3DE00-4A82-4B3F-A4E6-53848CB90D85}" type="presOf" srcId="{C950A962-24E3-4613-A704-7D68CD5B86A0}" destId="{3FAF516E-0883-4DCC-9C34-239F1AF55246}" srcOrd="0" destOrd="0" presId="urn:microsoft.com/office/officeart/2018/2/layout/IconCircleList"/>
    <dgm:cxn modelId="{6BB99C14-D6C8-46D6-98D0-8836C761511B}" srcId="{A8F3B9DF-319C-443B-B2B1-5A3F428204F8}" destId="{C950A962-24E3-4613-A704-7D68CD5B86A0}" srcOrd="1" destOrd="0" parTransId="{23FB5FAF-4691-4569-8433-47CECDA7B23C}" sibTransId="{3D289EA2-B584-4976-8714-94AD220514DA}"/>
    <dgm:cxn modelId="{FE667818-B846-4F90-BCEF-C833D22C95DE}" srcId="{A8F3B9DF-319C-443B-B2B1-5A3F428204F8}" destId="{334CC4BB-0A20-4C1A-993A-28631F69E658}" srcOrd="3" destOrd="0" parTransId="{80C989D9-5CB0-4622-B46F-E64254F0B9BA}" sibTransId="{15B3FD9E-0D9D-4BE4-BB87-44A0DFC36186}"/>
    <dgm:cxn modelId="{5433E538-58B1-41BE-85E5-24BA09A20BB7}" type="presOf" srcId="{22970BAC-EE4C-4ABC-BAB0-B03EE4CD8DC3}" destId="{68A7124A-3522-43E2-B25F-E23B9AD35813}" srcOrd="0" destOrd="0" presId="urn:microsoft.com/office/officeart/2018/2/layout/IconCircleList"/>
    <dgm:cxn modelId="{4E38AE4F-93C8-4E55-8FA8-EB918FFCDC92}" type="presOf" srcId="{A8F3B9DF-319C-443B-B2B1-5A3F428204F8}" destId="{16930BE7-CBC7-4DE6-B6A6-9A2B91D3F2D0}" srcOrd="0" destOrd="0" presId="urn:microsoft.com/office/officeart/2018/2/layout/IconCircleList"/>
    <dgm:cxn modelId="{CAD92C5A-1218-4FB0-AB91-EB5FF32CF908}" type="presOf" srcId="{3D289EA2-B584-4976-8714-94AD220514DA}" destId="{AC324231-3045-4628-81A7-ECDA4239D970}" srcOrd="0" destOrd="0" presId="urn:microsoft.com/office/officeart/2018/2/layout/IconCircleList"/>
    <dgm:cxn modelId="{E0401F9D-6EEC-4A18-8980-FBC1FD8CA0EA}" srcId="{A8F3B9DF-319C-443B-B2B1-5A3F428204F8}" destId="{14ADCF9A-2575-47D7-B217-C2A1614A90CD}" srcOrd="2" destOrd="0" parTransId="{D0E5CCF1-8C0A-49F5-BEE7-AA215C411B56}" sibTransId="{0955A54A-8DB6-4188-B018-9700035A892B}"/>
    <dgm:cxn modelId="{47C0D1BC-4B3B-4BA7-9FB9-21B3430A34BF}" type="presOf" srcId="{0955A54A-8DB6-4188-B018-9700035A892B}" destId="{FB1C15EE-B0D8-4DBA-9EFD-D681C1B147F3}" srcOrd="0" destOrd="0" presId="urn:microsoft.com/office/officeart/2018/2/layout/IconCircleList"/>
    <dgm:cxn modelId="{8FF15DD5-A6A0-4589-BA36-FC938BA91F18}" type="presOf" srcId="{4A917AAC-3134-4262-83B8-85A7414EC956}" destId="{38DF0D13-BE5D-482C-AD00-530ED9623594}" srcOrd="0" destOrd="0" presId="urn:microsoft.com/office/officeart/2018/2/layout/IconCircleList"/>
    <dgm:cxn modelId="{E587FAE7-AC16-4709-B5D1-73A42B28E272}" type="presOf" srcId="{334CC4BB-0A20-4C1A-993A-28631F69E658}" destId="{7F0B29BB-597D-4E0E-A9FF-90DF880BD7E5}" srcOrd="0" destOrd="0" presId="urn:microsoft.com/office/officeart/2018/2/layout/IconCircleList"/>
    <dgm:cxn modelId="{39F3D6EF-11C5-480C-9836-902ACC211EF3}" type="presOf" srcId="{14ADCF9A-2575-47D7-B217-C2A1614A90CD}" destId="{4FA5F71E-CE33-441A-B664-3952C540F6E8}" srcOrd="0" destOrd="0" presId="urn:microsoft.com/office/officeart/2018/2/layout/IconCircleList"/>
    <dgm:cxn modelId="{4B1EE3FC-C2C5-4B76-9EFC-A26F0C1955D2}" srcId="{A8F3B9DF-319C-443B-B2B1-5A3F428204F8}" destId="{22970BAC-EE4C-4ABC-BAB0-B03EE4CD8DC3}" srcOrd="0" destOrd="0" parTransId="{06965D7F-5317-462C-89A2-A7D59BE3E1AC}" sibTransId="{4A917AAC-3134-4262-83B8-85A7414EC956}"/>
    <dgm:cxn modelId="{4297226E-2127-4FE3-9943-62FA994F9B43}" type="presParOf" srcId="{16930BE7-CBC7-4DE6-B6A6-9A2B91D3F2D0}" destId="{DE19A116-AEC6-4F0C-BC61-60C28AED74B8}" srcOrd="0" destOrd="0" presId="urn:microsoft.com/office/officeart/2018/2/layout/IconCircleList"/>
    <dgm:cxn modelId="{F00899F4-DC83-4386-AFA1-2B34FD955B62}" type="presParOf" srcId="{DE19A116-AEC6-4F0C-BC61-60C28AED74B8}" destId="{A759EA75-D768-478F-BC48-7158B7C337F3}" srcOrd="0" destOrd="0" presId="urn:microsoft.com/office/officeart/2018/2/layout/IconCircleList"/>
    <dgm:cxn modelId="{1D7D3321-AAC7-4B0C-A820-A8E2CBA1A4CC}" type="presParOf" srcId="{A759EA75-D768-478F-BC48-7158B7C337F3}" destId="{FE16D26A-79CD-4E7B-80CF-9810F683BEB5}" srcOrd="0" destOrd="0" presId="urn:microsoft.com/office/officeart/2018/2/layout/IconCircleList"/>
    <dgm:cxn modelId="{096F2D6F-3313-4DF7-B6D2-705C3B1A66C5}" type="presParOf" srcId="{A759EA75-D768-478F-BC48-7158B7C337F3}" destId="{F789EE85-6D87-4BCC-80C9-26863031108A}" srcOrd="1" destOrd="0" presId="urn:microsoft.com/office/officeart/2018/2/layout/IconCircleList"/>
    <dgm:cxn modelId="{F2BD4544-8265-4DC0-A938-B53916619C62}" type="presParOf" srcId="{A759EA75-D768-478F-BC48-7158B7C337F3}" destId="{3E1A16B4-DE71-4158-8774-6F8EC1A9B988}" srcOrd="2" destOrd="0" presId="urn:microsoft.com/office/officeart/2018/2/layout/IconCircleList"/>
    <dgm:cxn modelId="{CB136248-FB65-4BD8-8EB9-6AC8DB4174C7}" type="presParOf" srcId="{A759EA75-D768-478F-BC48-7158B7C337F3}" destId="{68A7124A-3522-43E2-B25F-E23B9AD35813}" srcOrd="3" destOrd="0" presId="urn:microsoft.com/office/officeart/2018/2/layout/IconCircleList"/>
    <dgm:cxn modelId="{01AE7153-59EB-495A-BDDE-5026FCF73611}" type="presParOf" srcId="{DE19A116-AEC6-4F0C-BC61-60C28AED74B8}" destId="{38DF0D13-BE5D-482C-AD00-530ED9623594}" srcOrd="1" destOrd="0" presId="urn:microsoft.com/office/officeart/2018/2/layout/IconCircleList"/>
    <dgm:cxn modelId="{A0FB81A2-E478-474C-9CB3-A1F06260101F}" type="presParOf" srcId="{DE19A116-AEC6-4F0C-BC61-60C28AED74B8}" destId="{E63EE60B-00A7-4DE0-88F3-E15DD84FA2E3}" srcOrd="2" destOrd="0" presId="urn:microsoft.com/office/officeart/2018/2/layout/IconCircleList"/>
    <dgm:cxn modelId="{1A130D54-08AE-415F-B018-9213873F35C4}" type="presParOf" srcId="{E63EE60B-00A7-4DE0-88F3-E15DD84FA2E3}" destId="{F7936A84-B1A4-401C-B01F-2CCE0EE20EC9}" srcOrd="0" destOrd="0" presId="urn:microsoft.com/office/officeart/2018/2/layout/IconCircleList"/>
    <dgm:cxn modelId="{933B84F2-A08D-4763-A3D9-3E66D2CC6312}" type="presParOf" srcId="{E63EE60B-00A7-4DE0-88F3-E15DD84FA2E3}" destId="{91DD1B03-8223-42C5-8FF7-76854DF59FD5}" srcOrd="1" destOrd="0" presId="urn:microsoft.com/office/officeart/2018/2/layout/IconCircleList"/>
    <dgm:cxn modelId="{011E2672-F953-464B-9EE3-AD6D503322AD}" type="presParOf" srcId="{E63EE60B-00A7-4DE0-88F3-E15DD84FA2E3}" destId="{0C2213C1-344B-4E6B-BFCF-1F279AE695A6}" srcOrd="2" destOrd="0" presId="urn:microsoft.com/office/officeart/2018/2/layout/IconCircleList"/>
    <dgm:cxn modelId="{E883DA61-5A96-49AD-B897-4F52AC4F3FD0}" type="presParOf" srcId="{E63EE60B-00A7-4DE0-88F3-E15DD84FA2E3}" destId="{3FAF516E-0883-4DCC-9C34-239F1AF55246}" srcOrd="3" destOrd="0" presId="urn:microsoft.com/office/officeart/2018/2/layout/IconCircleList"/>
    <dgm:cxn modelId="{88798857-1488-417A-A5B7-F8155FA3FBE4}" type="presParOf" srcId="{DE19A116-AEC6-4F0C-BC61-60C28AED74B8}" destId="{AC324231-3045-4628-81A7-ECDA4239D970}" srcOrd="3" destOrd="0" presId="urn:microsoft.com/office/officeart/2018/2/layout/IconCircleList"/>
    <dgm:cxn modelId="{D15BAF56-577D-412B-A5D6-4AA439C1DBDD}" type="presParOf" srcId="{DE19A116-AEC6-4F0C-BC61-60C28AED74B8}" destId="{D2C57430-A4C1-4AB8-B8B2-E3CBC4326ACA}" srcOrd="4" destOrd="0" presId="urn:microsoft.com/office/officeart/2018/2/layout/IconCircleList"/>
    <dgm:cxn modelId="{2A1265AA-B9D1-472B-994F-1FE4B45DECC5}" type="presParOf" srcId="{D2C57430-A4C1-4AB8-B8B2-E3CBC4326ACA}" destId="{E673870E-8BF8-4794-A39A-DFEAC69D8D41}" srcOrd="0" destOrd="0" presId="urn:microsoft.com/office/officeart/2018/2/layout/IconCircleList"/>
    <dgm:cxn modelId="{A214A42C-7C2B-4B02-BF66-82BB8E9201A2}" type="presParOf" srcId="{D2C57430-A4C1-4AB8-B8B2-E3CBC4326ACA}" destId="{4BD6BF21-7C35-4F54-BF76-061A1368BA47}" srcOrd="1" destOrd="0" presId="urn:microsoft.com/office/officeart/2018/2/layout/IconCircleList"/>
    <dgm:cxn modelId="{FAFA1622-FEF3-44B0-9EB1-3FE5FFC2E08B}" type="presParOf" srcId="{D2C57430-A4C1-4AB8-B8B2-E3CBC4326ACA}" destId="{EEA0A569-07B1-4CAD-9B3E-C229830E4E5D}" srcOrd="2" destOrd="0" presId="urn:microsoft.com/office/officeart/2018/2/layout/IconCircleList"/>
    <dgm:cxn modelId="{E8879B75-5F48-410B-A176-B1BC7A54EB63}" type="presParOf" srcId="{D2C57430-A4C1-4AB8-B8B2-E3CBC4326ACA}" destId="{4FA5F71E-CE33-441A-B664-3952C540F6E8}" srcOrd="3" destOrd="0" presId="urn:microsoft.com/office/officeart/2018/2/layout/IconCircleList"/>
    <dgm:cxn modelId="{B9B0490F-BA5C-4B3F-9623-029A10C67C82}" type="presParOf" srcId="{DE19A116-AEC6-4F0C-BC61-60C28AED74B8}" destId="{FB1C15EE-B0D8-4DBA-9EFD-D681C1B147F3}" srcOrd="5" destOrd="0" presId="urn:microsoft.com/office/officeart/2018/2/layout/IconCircleList"/>
    <dgm:cxn modelId="{7A1596AE-4B64-4844-9128-F0E7D6649EA5}" type="presParOf" srcId="{DE19A116-AEC6-4F0C-BC61-60C28AED74B8}" destId="{3FA8D624-8AB1-477C-9590-591C671E3DBF}" srcOrd="6" destOrd="0" presId="urn:microsoft.com/office/officeart/2018/2/layout/IconCircleList"/>
    <dgm:cxn modelId="{4A45837B-9FE8-420E-9264-B5529FF0EB7F}" type="presParOf" srcId="{3FA8D624-8AB1-477C-9590-591C671E3DBF}" destId="{F1F2256A-1192-4935-BA1E-8A7C23B213C7}" srcOrd="0" destOrd="0" presId="urn:microsoft.com/office/officeart/2018/2/layout/IconCircleList"/>
    <dgm:cxn modelId="{8A40BBCA-012D-4803-A3EA-1F3CD02671AA}" type="presParOf" srcId="{3FA8D624-8AB1-477C-9590-591C671E3DBF}" destId="{25CF4825-AA68-4DFA-B7BB-9A672532AAE9}" srcOrd="1" destOrd="0" presId="urn:microsoft.com/office/officeart/2018/2/layout/IconCircleList"/>
    <dgm:cxn modelId="{2D66892A-1C4E-4046-A5E4-E87D3E63CF38}" type="presParOf" srcId="{3FA8D624-8AB1-477C-9590-591C671E3DBF}" destId="{372C8FEA-E213-4A87-90BA-AB617913F516}" srcOrd="2" destOrd="0" presId="urn:microsoft.com/office/officeart/2018/2/layout/IconCircleList"/>
    <dgm:cxn modelId="{56B9C48A-BB9B-4EA4-9610-B1F05F467812}" type="presParOf" srcId="{3FA8D624-8AB1-477C-9590-591C671E3DBF}" destId="{7F0B29BB-597D-4E0E-A9FF-90DF880BD7E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0631293-4186-41A6-8330-2AC965D00F8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EDACB1D0-66EB-42CE-A93F-9ACFDA19DE29}">
      <dgm:prSet/>
      <dgm:spPr/>
      <dgm:t>
        <a:bodyPr/>
        <a:lstStyle/>
        <a:p>
          <a:r>
            <a:rPr lang="en-US"/>
            <a:t>Database optimizes adoption matching and shelter management</a:t>
          </a:r>
        </a:p>
      </dgm:t>
    </dgm:pt>
    <dgm:pt modelId="{5CAC14BA-5C03-4E4F-8EEC-E94F7EC61489}" type="parTrans" cxnId="{F66EDC0A-9C50-46C2-AE86-378EA8D7042D}">
      <dgm:prSet/>
      <dgm:spPr/>
      <dgm:t>
        <a:bodyPr/>
        <a:lstStyle/>
        <a:p>
          <a:endParaRPr lang="en-US"/>
        </a:p>
      </dgm:t>
    </dgm:pt>
    <dgm:pt modelId="{F5260494-97E5-4753-A4B1-AAEA500710A5}" type="sibTrans" cxnId="{F66EDC0A-9C50-46C2-AE86-378EA8D7042D}">
      <dgm:prSet/>
      <dgm:spPr/>
      <dgm:t>
        <a:bodyPr/>
        <a:lstStyle/>
        <a:p>
          <a:endParaRPr lang="en-US"/>
        </a:p>
      </dgm:t>
    </dgm:pt>
    <dgm:pt modelId="{2646C4C5-6A10-4B48-97D7-DF17D37D1B1D}">
      <dgm:prSet/>
      <dgm:spPr/>
      <dgm:t>
        <a:bodyPr/>
        <a:lstStyle/>
        <a:p>
          <a:r>
            <a:rPr lang="en-US"/>
            <a:t>Automated alerts and reports improve decision-making</a:t>
          </a:r>
        </a:p>
      </dgm:t>
    </dgm:pt>
    <dgm:pt modelId="{F4DC66EE-D239-4A66-ACCC-2D77CDF4A15F}" type="parTrans" cxnId="{A4463293-7403-426F-975A-9BE080C806AE}">
      <dgm:prSet/>
      <dgm:spPr/>
      <dgm:t>
        <a:bodyPr/>
        <a:lstStyle/>
        <a:p>
          <a:endParaRPr lang="en-US"/>
        </a:p>
      </dgm:t>
    </dgm:pt>
    <dgm:pt modelId="{DE3C929A-2439-4A65-865B-C790A2B6D1C4}" type="sibTrans" cxnId="{A4463293-7403-426F-975A-9BE080C806AE}">
      <dgm:prSet/>
      <dgm:spPr/>
      <dgm:t>
        <a:bodyPr/>
        <a:lstStyle/>
        <a:p>
          <a:endParaRPr lang="en-US"/>
        </a:p>
      </dgm:t>
    </dgm:pt>
    <dgm:pt modelId="{47C6D9DC-985A-4533-9421-FD13BB97B774}">
      <dgm:prSet/>
      <dgm:spPr/>
      <dgm:t>
        <a:bodyPr/>
        <a:lstStyle/>
        <a:p>
          <a:r>
            <a:rPr lang="en-US"/>
            <a:t>Structured data ensures accuracy and referential integrity</a:t>
          </a:r>
        </a:p>
      </dgm:t>
    </dgm:pt>
    <dgm:pt modelId="{C7440D04-2E18-496F-AECA-6615D79723F3}" type="parTrans" cxnId="{B87BDAC5-B1BA-4597-B87D-3DC9127C608B}">
      <dgm:prSet/>
      <dgm:spPr/>
      <dgm:t>
        <a:bodyPr/>
        <a:lstStyle/>
        <a:p>
          <a:endParaRPr lang="en-US"/>
        </a:p>
      </dgm:t>
    </dgm:pt>
    <dgm:pt modelId="{1F1F47A0-B2CE-4D15-8B2B-FEACB081AD99}" type="sibTrans" cxnId="{B87BDAC5-B1BA-4597-B87D-3DC9127C608B}">
      <dgm:prSet/>
      <dgm:spPr/>
      <dgm:t>
        <a:bodyPr/>
        <a:lstStyle/>
        <a:p>
          <a:endParaRPr lang="en-US"/>
        </a:p>
      </dgm:t>
    </dgm:pt>
    <dgm:pt modelId="{864C62A7-3198-41D5-A678-3436B79DAEDE}">
      <dgm:prSet/>
      <dgm:spPr/>
      <dgm:t>
        <a:bodyPr/>
        <a:lstStyle/>
        <a:p>
          <a:r>
            <a:rPr lang="en-US"/>
            <a:t>Future expansions: More data, optimized performance, and AI-based recommendations</a:t>
          </a:r>
        </a:p>
      </dgm:t>
    </dgm:pt>
    <dgm:pt modelId="{18C9D516-D8DF-4D15-88D1-DC90B6AB6700}" type="parTrans" cxnId="{15B76C22-EAA7-4EE7-9320-57B45BEDE08C}">
      <dgm:prSet/>
      <dgm:spPr/>
      <dgm:t>
        <a:bodyPr/>
        <a:lstStyle/>
        <a:p>
          <a:endParaRPr lang="en-US"/>
        </a:p>
      </dgm:t>
    </dgm:pt>
    <dgm:pt modelId="{6F469FD5-153C-47C9-A387-7FF2CF35B407}" type="sibTrans" cxnId="{15B76C22-EAA7-4EE7-9320-57B45BEDE08C}">
      <dgm:prSet/>
      <dgm:spPr/>
      <dgm:t>
        <a:bodyPr/>
        <a:lstStyle/>
        <a:p>
          <a:endParaRPr lang="en-US"/>
        </a:p>
      </dgm:t>
    </dgm:pt>
    <dgm:pt modelId="{3ACFEEEC-4014-4662-88C2-9E305516C2E8}" type="pres">
      <dgm:prSet presAssocID="{60631293-4186-41A6-8330-2AC965D00F85}" presName="root" presStyleCnt="0">
        <dgm:presLayoutVars>
          <dgm:dir/>
          <dgm:resizeHandles val="exact"/>
        </dgm:presLayoutVars>
      </dgm:prSet>
      <dgm:spPr/>
    </dgm:pt>
    <dgm:pt modelId="{28BC5FBC-C22E-4F92-9CA2-25E6BC9962F8}" type="pres">
      <dgm:prSet presAssocID="{60631293-4186-41A6-8330-2AC965D00F85}" presName="container" presStyleCnt="0">
        <dgm:presLayoutVars>
          <dgm:dir/>
          <dgm:resizeHandles val="exact"/>
        </dgm:presLayoutVars>
      </dgm:prSet>
      <dgm:spPr/>
    </dgm:pt>
    <dgm:pt modelId="{471A4174-C9E3-4349-A5A8-A5A1277381C1}" type="pres">
      <dgm:prSet presAssocID="{EDACB1D0-66EB-42CE-A93F-9ACFDA19DE29}" presName="compNode" presStyleCnt="0"/>
      <dgm:spPr/>
    </dgm:pt>
    <dgm:pt modelId="{A357D751-22DE-4029-A815-0B360753E946}" type="pres">
      <dgm:prSet presAssocID="{EDACB1D0-66EB-42CE-A93F-9ACFDA19DE29}" presName="iconBgRect" presStyleLbl="bgShp" presStyleIdx="0" presStyleCnt="4"/>
      <dgm:spPr/>
    </dgm:pt>
    <dgm:pt modelId="{F2F8F684-9707-46F7-BF4D-34A1E9D41B34}" type="pres">
      <dgm:prSet presAssocID="{EDACB1D0-66EB-42CE-A93F-9ACFDA19DE2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3BA1C60-7DE7-4539-9BAC-903A6747B63E}" type="pres">
      <dgm:prSet presAssocID="{EDACB1D0-66EB-42CE-A93F-9ACFDA19DE29}" presName="spaceRect" presStyleCnt="0"/>
      <dgm:spPr/>
    </dgm:pt>
    <dgm:pt modelId="{BD09A2BF-367C-46F6-B4A9-350D48AACF82}" type="pres">
      <dgm:prSet presAssocID="{EDACB1D0-66EB-42CE-A93F-9ACFDA19DE29}" presName="textRect" presStyleLbl="revTx" presStyleIdx="0" presStyleCnt="4">
        <dgm:presLayoutVars>
          <dgm:chMax val="1"/>
          <dgm:chPref val="1"/>
        </dgm:presLayoutVars>
      </dgm:prSet>
      <dgm:spPr/>
    </dgm:pt>
    <dgm:pt modelId="{AB109421-BCC5-41B9-87A9-1B8B3997C913}" type="pres">
      <dgm:prSet presAssocID="{F5260494-97E5-4753-A4B1-AAEA500710A5}" presName="sibTrans" presStyleLbl="sibTrans2D1" presStyleIdx="0" presStyleCnt="0"/>
      <dgm:spPr/>
    </dgm:pt>
    <dgm:pt modelId="{80262079-A292-40F9-88A9-09DD99084F84}" type="pres">
      <dgm:prSet presAssocID="{2646C4C5-6A10-4B48-97D7-DF17D37D1B1D}" presName="compNode" presStyleCnt="0"/>
      <dgm:spPr/>
    </dgm:pt>
    <dgm:pt modelId="{08CE6C94-0CBD-40B8-8509-4EFEC3493EB4}" type="pres">
      <dgm:prSet presAssocID="{2646C4C5-6A10-4B48-97D7-DF17D37D1B1D}" presName="iconBgRect" presStyleLbl="bgShp" presStyleIdx="1" presStyleCnt="4"/>
      <dgm:spPr/>
    </dgm:pt>
    <dgm:pt modelId="{72986EC8-0615-4D9A-8832-7BADD9AB9F74}" type="pres">
      <dgm:prSet presAssocID="{2646C4C5-6A10-4B48-97D7-DF17D37D1B1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ll"/>
        </a:ext>
      </dgm:extLst>
    </dgm:pt>
    <dgm:pt modelId="{0F0396E8-986A-45E0-8CED-4B68E47428B5}" type="pres">
      <dgm:prSet presAssocID="{2646C4C5-6A10-4B48-97D7-DF17D37D1B1D}" presName="spaceRect" presStyleCnt="0"/>
      <dgm:spPr/>
    </dgm:pt>
    <dgm:pt modelId="{E2ACBC14-54CB-456C-AF3B-45E43E828DF9}" type="pres">
      <dgm:prSet presAssocID="{2646C4C5-6A10-4B48-97D7-DF17D37D1B1D}" presName="textRect" presStyleLbl="revTx" presStyleIdx="1" presStyleCnt="4">
        <dgm:presLayoutVars>
          <dgm:chMax val="1"/>
          <dgm:chPref val="1"/>
        </dgm:presLayoutVars>
      </dgm:prSet>
      <dgm:spPr/>
    </dgm:pt>
    <dgm:pt modelId="{E5F4D439-5439-472C-B23A-A9EE82E49DAC}" type="pres">
      <dgm:prSet presAssocID="{DE3C929A-2439-4A65-865B-C790A2B6D1C4}" presName="sibTrans" presStyleLbl="sibTrans2D1" presStyleIdx="0" presStyleCnt="0"/>
      <dgm:spPr/>
    </dgm:pt>
    <dgm:pt modelId="{FA8D1988-D6F0-4F14-A05D-7BD97B3C4325}" type="pres">
      <dgm:prSet presAssocID="{47C6D9DC-985A-4533-9421-FD13BB97B774}" presName="compNode" presStyleCnt="0"/>
      <dgm:spPr/>
    </dgm:pt>
    <dgm:pt modelId="{FB2BC8C4-C759-4529-8F8E-5F4DD72AB51E}" type="pres">
      <dgm:prSet presAssocID="{47C6D9DC-985A-4533-9421-FD13BB97B774}" presName="iconBgRect" presStyleLbl="bgShp" presStyleIdx="2" presStyleCnt="4"/>
      <dgm:spPr/>
    </dgm:pt>
    <dgm:pt modelId="{E84487BF-3C87-4DD2-BB3B-A38C47DC5973}" type="pres">
      <dgm:prSet presAssocID="{47C6D9DC-985A-4533-9421-FD13BB97B77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BBD30F88-FEA2-4CA6-8AA8-A97CE82A2FC0}" type="pres">
      <dgm:prSet presAssocID="{47C6D9DC-985A-4533-9421-FD13BB97B774}" presName="spaceRect" presStyleCnt="0"/>
      <dgm:spPr/>
    </dgm:pt>
    <dgm:pt modelId="{F014BD72-B7C2-43B7-95A5-47F6B6A31B23}" type="pres">
      <dgm:prSet presAssocID="{47C6D9DC-985A-4533-9421-FD13BB97B774}" presName="textRect" presStyleLbl="revTx" presStyleIdx="2" presStyleCnt="4">
        <dgm:presLayoutVars>
          <dgm:chMax val="1"/>
          <dgm:chPref val="1"/>
        </dgm:presLayoutVars>
      </dgm:prSet>
      <dgm:spPr/>
    </dgm:pt>
    <dgm:pt modelId="{487E0FB3-931B-4117-B349-650948899652}" type="pres">
      <dgm:prSet presAssocID="{1F1F47A0-B2CE-4D15-8B2B-FEACB081AD99}" presName="sibTrans" presStyleLbl="sibTrans2D1" presStyleIdx="0" presStyleCnt="0"/>
      <dgm:spPr/>
    </dgm:pt>
    <dgm:pt modelId="{88326E9A-92B9-4053-B8A1-F85F5F37F835}" type="pres">
      <dgm:prSet presAssocID="{864C62A7-3198-41D5-A678-3436B79DAEDE}" presName="compNode" presStyleCnt="0"/>
      <dgm:spPr/>
    </dgm:pt>
    <dgm:pt modelId="{5D429166-ACE4-467A-B588-E71C4999732B}" type="pres">
      <dgm:prSet presAssocID="{864C62A7-3198-41D5-A678-3436B79DAEDE}" presName="iconBgRect" presStyleLbl="bgShp" presStyleIdx="3" presStyleCnt="4"/>
      <dgm:spPr/>
    </dgm:pt>
    <dgm:pt modelId="{C179CDC8-A10B-44C8-80C4-2047BEAE2E0C}" type="pres">
      <dgm:prSet presAssocID="{864C62A7-3198-41D5-A678-3436B79DAED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D19EB62-A8BF-4024-8FD0-03C405D75F63}" type="pres">
      <dgm:prSet presAssocID="{864C62A7-3198-41D5-A678-3436B79DAEDE}" presName="spaceRect" presStyleCnt="0"/>
      <dgm:spPr/>
    </dgm:pt>
    <dgm:pt modelId="{8AB4C669-E84F-4574-B2AB-07E606A61363}" type="pres">
      <dgm:prSet presAssocID="{864C62A7-3198-41D5-A678-3436B79DAED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66EDC0A-9C50-46C2-AE86-378EA8D7042D}" srcId="{60631293-4186-41A6-8330-2AC965D00F85}" destId="{EDACB1D0-66EB-42CE-A93F-9ACFDA19DE29}" srcOrd="0" destOrd="0" parTransId="{5CAC14BA-5C03-4E4F-8EEC-E94F7EC61489}" sibTransId="{F5260494-97E5-4753-A4B1-AAEA500710A5}"/>
    <dgm:cxn modelId="{CAFCCE14-4232-478C-B0EB-F4DA7D34A762}" type="presOf" srcId="{DE3C929A-2439-4A65-865B-C790A2B6D1C4}" destId="{E5F4D439-5439-472C-B23A-A9EE82E49DAC}" srcOrd="0" destOrd="0" presId="urn:microsoft.com/office/officeart/2018/2/layout/IconCircleList"/>
    <dgm:cxn modelId="{15B76C22-EAA7-4EE7-9320-57B45BEDE08C}" srcId="{60631293-4186-41A6-8330-2AC965D00F85}" destId="{864C62A7-3198-41D5-A678-3436B79DAEDE}" srcOrd="3" destOrd="0" parTransId="{18C9D516-D8DF-4D15-88D1-DC90B6AB6700}" sibTransId="{6F469FD5-153C-47C9-A387-7FF2CF35B407}"/>
    <dgm:cxn modelId="{BE92E422-A67C-4652-94E9-08EC11975F94}" type="presOf" srcId="{2646C4C5-6A10-4B48-97D7-DF17D37D1B1D}" destId="{E2ACBC14-54CB-456C-AF3B-45E43E828DF9}" srcOrd="0" destOrd="0" presId="urn:microsoft.com/office/officeart/2018/2/layout/IconCircleList"/>
    <dgm:cxn modelId="{51B85125-5FDD-40D3-A2C7-8745A09AC46C}" type="presOf" srcId="{1F1F47A0-B2CE-4D15-8B2B-FEACB081AD99}" destId="{487E0FB3-931B-4117-B349-650948899652}" srcOrd="0" destOrd="0" presId="urn:microsoft.com/office/officeart/2018/2/layout/IconCircleList"/>
    <dgm:cxn modelId="{B4A00F2D-1E03-4055-88EA-163D1884E377}" type="presOf" srcId="{47C6D9DC-985A-4533-9421-FD13BB97B774}" destId="{F014BD72-B7C2-43B7-95A5-47F6B6A31B23}" srcOrd="0" destOrd="0" presId="urn:microsoft.com/office/officeart/2018/2/layout/IconCircleList"/>
    <dgm:cxn modelId="{BEFAB054-3C3B-4AA0-A4A6-73E9253A5477}" type="presOf" srcId="{60631293-4186-41A6-8330-2AC965D00F85}" destId="{3ACFEEEC-4014-4662-88C2-9E305516C2E8}" srcOrd="0" destOrd="0" presId="urn:microsoft.com/office/officeart/2018/2/layout/IconCircleList"/>
    <dgm:cxn modelId="{83493489-57E2-43CC-AE22-D42102723AB9}" type="presOf" srcId="{EDACB1D0-66EB-42CE-A93F-9ACFDA19DE29}" destId="{BD09A2BF-367C-46F6-B4A9-350D48AACF82}" srcOrd="0" destOrd="0" presId="urn:microsoft.com/office/officeart/2018/2/layout/IconCircleList"/>
    <dgm:cxn modelId="{A4463293-7403-426F-975A-9BE080C806AE}" srcId="{60631293-4186-41A6-8330-2AC965D00F85}" destId="{2646C4C5-6A10-4B48-97D7-DF17D37D1B1D}" srcOrd="1" destOrd="0" parTransId="{F4DC66EE-D239-4A66-ACCC-2D77CDF4A15F}" sibTransId="{DE3C929A-2439-4A65-865B-C790A2B6D1C4}"/>
    <dgm:cxn modelId="{B87BDAC5-B1BA-4597-B87D-3DC9127C608B}" srcId="{60631293-4186-41A6-8330-2AC965D00F85}" destId="{47C6D9DC-985A-4533-9421-FD13BB97B774}" srcOrd="2" destOrd="0" parTransId="{C7440D04-2E18-496F-AECA-6615D79723F3}" sibTransId="{1F1F47A0-B2CE-4D15-8B2B-FEACB081AD99}"/>
    <dgm:cxn modelId="{493F17D2-5502-4FB6-BFF3-325B5F0A2C9A}" type="presOf" srcId="{864C62A7-3198-41D5-A678-3436B79DAEDE}" destId="{8AB4C669-E84F-4574-B2AB-07E606A61363}" srcOrd="0" destOrd="0" presId="urn:microsoft.com/office/officeart/2018/2/layout/IconCircleList"/>
    <dgm:cxn modelId="{561C70E7-1D9D-4B48-9F28-7B52AB72F2C7}" type="presOf" srcId="{F5260494-97E5-4753-A4B1-AAEA500710A5}" destId="{AB109421-BCC5-41B9-87A9-1B8B3997C913}" srcOrd="0" destOrd="0" presId="urn:microsoft.com/office/officeart/2018/2/layout/IconCircleList"/>
    <dgm:cxn modelId="{37C1A923-FBA9-4DE7-9CA0-9B42DA691B31}" type="presParOf" srcId="{3ACFEEEC-4014-4662-88C2-9E305516C2E8}" destId="{28BC5FBC-C22E-4F92-9CA2-25E6BC9962F8}" srcOrd="0" destOrd="0" presId="urn:microsoft.com/office/officeart/2018/2/layout/IconCircleList"/>
    <dgm:cxn modelId="{20C28F4E-E558-4160-922F-C3952C5E7D76}" type="presParOf" srcId="{28BC5FBC-C22E-4F92-9CA2-25E6BC9962F8}" destId="{471A4174-C9E3-4349-A5A8-A5A1277381C1}" srcOrd="0" destOrd="0" presId="urn:microsoft.com/office/officeart/2018/2/layout/IconCircleList"/>
    <dgm:cxn modelId="{C63E5342-39C7-4B3B-A7C5-4FDFE6F99192}" type="presParOf" srcId="{471A4174-C9E3-4349-A5A8-A5A1277381C1}" destId="{A357D751-22DE-4029-A815-0B360753E946}" srcOrd="0" destOrd="0" presId="urn:microsoft.com/office/officeart/2018/2/layout/IconCircleList"/>
    <dgm:cxn modelId="{DA217E6F-C970-40EE-95E1-A32592DF288F}" type="presParOf" srcId="{471A4174-C9E3-4349-A5A8-A5A1277381C1}" destId="{F2F8F684-9707-46F7-BF4D-34A1E9D41B34}" srcOrd="1" destOrd="0" presId="urn:microsoft.com/office/officeart/2018/2/layout/IconCircleList"/>
    <dgm:cxn modelId="{984B950B-F308-4AB7-9EE5-6A7993BFEEB7}" type="presParOf" srcId="{471A4174-C9E3-4349-A5A8-A5A1277381C1}" destId="{03BA1C60-7DE7-4539-9BAC-903A6747B63E}" srcOrd="2" destOrd="0" presId="urn:microsoft.com/office/officeart/2018/2/layout/IconCircleList"/>
    <dgm:cxn modelId="{8D35770A-C496-4AB6-BE0C-CC73AA4AA237}" type="presParOf" srcId="{471A4174-C9E3-4349-A5A8-A5A1277381C1}" destId="{BD09A2BF-367C-46F6-B4A9-350D48AACF82}" srcOrd="3" destOrd="0" presId="urn:microsoft.com/office/officeart/2018/2/layout/IconCircleList"/>
    <dgm:cxn modelId="{633022F4-5F4F-4CAE-B84C-5C47130A2D3B}" type="presParOf" srcId="{28BC5FBC-C22E-4F92-9CA2-25E6BC9962F8}" destId="{AB109421-BCC5-41B9-87A9-1B8B3997C913}" srcOrd="1" destOrd="0" presId="urn:microsoft.com/office/officeart/2018/2/layout/IconCircleList"/>
    <dgm:cxn modelId="{01F8869C-E7E0-432E-9075-42601A76979B}" type="presParOf" srcId="{28BC5FBC-C22E-4F92-9CA2-25E6BC9962F8}" destId="{80262079-A292-40F9-88A9-09DD99084F84}" srcOrd="2" destOrd="0" presId="urn:microsoft.com/office/officeart/2018/2/layout/IconCircleList"/>
    <dgm:cxn modelId="{72EBFC8B-8592-43AC-93FF-1AA5635194C6}" type="presParOf" srcId="{80262079-A292-40F9-88A9-09DD99084F84}" destId="{08CE6C94-0CBD-40B8-8509-4EFEC3493EB4}" srcOrd="0" destOrd="0" presId="urn:microsoft.com/office/officeart/2018/2/layout/IconCircleList"/>
    <dgm:cxn modelId="{982476EC-19B0-49A5-9ECA-F11E9EA094C4}" type="presParOf" srcId="{80262079-A292-40F9-88A9-09DD99084F84}" destId="{72986EC8-0615-4D9A-8832-7BADD9AB9F74}" srcOrd="1" destOrd="0" presId="urn:microsoft.com/office/officeart/2018/2/layout/IconCircleList"/>
    <dgm:cxn modelId="{F3B29361-BB16-476A-A402-AE470E5A0DF8}" type="presParOf" srcId="{80262079-A292-40F9-88A9-09DD99084F84}" destId="{0F0396E8-986A-45E0-8CED-4B68E47428B5}" srcOrd="2" destOrd="0" presId="urn:microsoft.com/office/officeart/2018/2/layout/IconCircleList"/>
    <dgm:cxn modelId="{AE87ED1E-567C-4BD8-8982-91F4F49FBA71}" type="presParOf" srcId="{80262079-A292-40F9-88A9-09DD99084F84}" destId="{E2ACBC14-54CB-456C-AF3B-45E43E828DF9}" srcOrd="3" destOrd="0" presId="urn:microsoft.com/office/officeart/2018/2/layout/IconCircleList"/>
    <dgm:cxn modelId="{26DBF7FB-6B80-452E-AE8C-AFCCB0FA83A4}" type="presParOf" srcId="{28BC5FBC-C22E-4F92-9CA2-25E6BC9962F8}" destId="{E5F4D439-5439-472C-B23A-A9EE82E49DAC}" srcOrd="3" destOrd="0" presId="urn:microsoft.com/office/officeart/2018/2/layout/IconCircleList"/>
    <dgm:cxn modelId="{D61491B9-2F8E-43C0-93E9-DA51861DC24D}" type="presParOf" srcId="{28BC5FBC-C22E-4F92-9CA2-25E6BC9962F8}" destId="{FA8D1988-D6F0-4F14-A05D-7BD97B3C4325}" srcOrd="4" destOrd="0" presId="urn:microsoft.com/office/officeart/2018/2/layout/IconCircleList"/>
    <dgm:cxn modelId="{3EC725D3-47E0-4C79-8E29-60B74D5FEC90}" type="presParOf" srcId="{FA8D1988-D6F0-4F14-A05D-7BD97B3C4325}" destId="{FB2BC8C4-C759-4529-8F8E-5F4DD72AB51E}" srcOrd="0" destOrd="0" presId="urn:microsoft.com/office/officeart/2018/2/layout/IconCircleList"/>
    <dgm:cxn modelId="{D45CC115-4496-4FCC-8165-09A023FE7F4B}" type="presParOf" srcId="{FA8D1988-D6F0-4F14-A05D-7BD97B3C4325}" destId="{E84487BF-3C87-4DD2-BB3B-A38C47DC5973}" srcOrd="1" destOrd="0" presId="urn:microsoft.com/office/officeart/2018/2/layout/IconCircleList"/>
    <dgm:cxn modelId="{83D1F426-3FC6-4700-B58A-4C9AD20DA966}" type="presParOf" srcId="{FA8D1988-D6F0-4F14-A05D-7BD97B3C4325}" destId="{BBD30F88-FEA2-4CA6-8AA8-A97CE82A2FC0}" srcOrd="2" destOrd="0" presId="urn:microsoft.com/office/officeart/2018/2/layout/IconCircleList"/>
    <dgm:cxn modelId="{375A3140-4AC9-49C9-90AF-4FD2BCEEC194}" type="presParOf" srcId="{FA8D1988-D6F0-4F14-A05D-7BD97B3C4325}" destId="{F014BD72-B7C2-43B7-95A5-47F6B6A31B23}" srcOrd="3" destOrd="0" presId="urn:microsoft.com/office/officeart/2018/2/layout/IconCircleList"/>
    <dgm:cxn modelId="{01C29879-9BA3-4274-A41F-AF8306253027}" type="presParOf" srcId="{28BC5FBC-C22E-4F92-9CA2-25E6BC9962F8}" destId="{487E0FB3-931B-4117-B349-650948899652}" srcOrd="5" destOrd="0" presId="urn:microsoft.com/office/officeart/2018/2/layout/IconCircleList"/>
    <dgm:cxn modelId="{19FDCCEE-E74B-4FE6-9D4B-D8D0ACA1B6EF}" type="presParOf" srcId="{28BC5FBC-C22E-4F92-9CA2-25E6BC9962F8}" destId="{88326E9A-92B9-4053-B8A1-F85F5F37F835}" srcOrd="6" destOrd="0" presId="urn:microsoft.com/office/officeart/2018/2/layout/IconCircleList"/>
    <dgm:cxn modelId="{2394C2E3-D77D-4FCA-8280-8338832144D6}" type="presParOf" srcId="{88326E9A-92B9-4053-B8A1-F85F5F37F835}" destId="{5D429166-ACE4-467A-B588-E71C4999732B}" srcOrd="0" destOrd="0" presId="urn:microsoft.com/office/officeart/2018/2/layout/IconCircleList"/>
    <dgm:cxn modelId="{B34841CE-2479-479C-8838-075B195D8FE4}" type="presParOf" srcId="{88326E9A-92B9-4053-B8A1-F85F5F37F835}" destId="{C179CDC8-A10B-44C8-80C4-2047BEAE2E0C}" srcOrd="1" destOrd="0" presId="urn:microsoft.com/office/officeart/2018/2/layout/IconCircleList"/>
    <dgm:cxn modelId="{718836D3-DF9A-4AD6-8B98-255F47AC3005}" type="presParOf" srcId="{88326E9A-92B9-4053-B8A1-F85F5F37F835}" destId="{1D19EB62-A8BF-4024-8FD0-03C405D75F63}" srcOrd="2" destOrd="0" presId="urn:microsoft.com/office/officeart/2018/2/layout/IconCircleList"/>
    <dgm:cxn modelId="{570203DB-E6CF-42AD-9F63-60D60CC3E980}" type="presParOf" srcId="{88326E9A-92B9-4053-B8A1-F85F5F37F835}" destId="{8AB4C669-E84F-4574-B2AB-07E606A6136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16D26A-79CD-4E7B-80CF-9810F683BEB5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89EE85-6D87-4BCC-80C9-26863031108A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A7124A-3522-43E2-B25F-E23B9AD35813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 err="1"/>
            <a:t>DogMatch_Q</a:t>
          </a:r>
          <a:r>
            <a:rPr lang="en-US" sz="2200" b="1" kern="1200" dirty="0"/>
            <a:t> Query: </a:t>
          </a:r>
          <a:r>
            <a:rPr lang="en-US" sz="2200" kern="1200" dirty="0"/>
            <a:t>Matches adopters with available dogs based on size, breed, and home type</a:t>
          </a:r>
        </a:p>
      </dsp:txBody>
      <dsp:txXfrm>
        <a:off x="1948202" y="368029"/>
        <a:ext cx="3233964" cy="1371985"/>
      </dsp:txXfrm>
    </dsp:sp>
    <dsp:sp modelId="{F7936A84-B1A4-401C-B01F-2CCE0EE20EC9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DD1B03-8223-42C5-8FF7-76854DF59FD5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AF516E-0883-4DCC-9C34-239F1AF55246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OccupancyRisk Query: </a:t>
          </a:r>
          <a:r>
            <a:rPr lang="en-US" sz="2200" kern="1200" dirty="0"/>
            <a:t>Identifies shelters over 70% capacity</a:t>
          </a:r>
        </a:p>
      </dsp:txBody>
      <dsp:txXfrm>
        <a:off x="7411643" y="368029"/>
        <a:ext cx="3233964" cy="1371985"/>
      </dsp:txXfrm>
    </dsp:sp>
    <dsp:sp modelId="{E673870E-8BF8-4794-A39A-DFEAC69D8D41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D6BF21-7C35-4F54-BF76-061A1368BA47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A5F71E-CE33-441A-B664-3952C540F6E8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Adoption Report Query: </a:t>
          </a:r>
          <a:r>
            <a:rPr lang="en-US" sz="2200" kern="1200" dirty="0"/>
            <a:t>Tracks completed adoptions and updates dog statuses</a:t>
          </a:r>
        </a:p>
      </dsp:txBody>
      <dsp:txXfrm>
        <a:off x="1948202" y="2452790"/>
        <a:ext cx="3233964" cy="1371985"/>
      </dsp:txXfrm>
    </dsp:sp>
    <dsp:sp modelId="{F1F2256A-1192-4935-BA1E-8A7C23B213C7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CF4825-AA68-4DFA-B7BB-9A672532AAE9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0B29BB-597D-4E0E-A9FF-90DF880BD7E5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Queries automate search, reporting, and decision-making processes</a:t>
          </a:r>
        </a:p>
      </dsp:txBody>
      <dsp:txXfrm>
        <a:off x="7411643" y="2452790"/>
        <a:ext cx="3233964" cy="13719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57D751-22DE-4029-A815-0B360753E946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F8F684-9707-46F7-BF4D-34A1E9D41B34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09A2BF-367C-46F6-B4A9-350D48AACF82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Database optimizes adoption matching and shelter management</a:t>
          </a:r>
        </a:p>
      </dsp:txBody>
      <dsp:txXfrm>
        <a:off x="1948202" y="368029"/>
        <a:ext cx="3233964" cy="1371985"/>
      </dsp:txXfrm>
    </dsp:sp>
    <dsp:sp modelId="{08CE6C94-0CBD-40B8-8509-4EFEC3493EB4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986EC8-0615-4D9A-8832-7BADD9AB9F74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ACBC14-54CB-456C-AF3B-45E43E828DF9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Automated alerts and reports improve decision-making</a:t>
          </a:r>
        </a:p>
      </dsp:txBody>
      <dsp:txXfrm>
        <a:off x="7411643" y="368029"/>
        <a:ext cx="3233964" cy="1371985"/>
      </dsp:txXfrm>
    </dsp:sp>
    <dsp:sp modelId="{FB2BC8C4-C759-4529-8F8E-5F4DD72AB51E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4487BF-3C87-4DD2-BB3B-A38C47DC5973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14BD72-B7C2-43B7-95A5-47F6B6A31B23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Structured data ensures accuracy and referential integrity</a:t>
          </a:r>
        </a:p>
      </dsp:txBody>
      <dsp:txXfrm>
        <a:off x="1948202" y="2452790"/>
        <a:ext cx="3233964" cy="1371985"/>
      </dsp:txXfrm>
    </dsp:sp>
    <dsp:sp modelId="{5D429166-ACE4-467A-B588-E71C4999732B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79CDC8-A10B-44C8-80C4-2047BEAE2E0C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B4C669-E84F-4574-B2AB-07E606A61363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Future expansions: More data, optimized performance, and AI-based recommendations</a:t>
          </a:r>
        </a:p>
      </dsp:txBody>
      <dsp:txXfrm>
        <a:off x="7411643" y="2452790"/>
        <a:ext cx="3233964" cy="13719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A1D5E-205E-FE1A-BD8F-9BCA4E77A7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FDDFD0-F299-E518-CAD4-F1CBD1CD5A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D8DEC-4F19-2C55-3EC4-CB5BEBAE5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E9740-9A57-7D3F-D525-428EFD1EB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40030-291A-03F1-6407-7A0AC1E9E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542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F7DED-8B48-E684-D71A-827410BA1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90B35-AC4B-2055-4BFB-82C97EA6F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6E91C-82A3-E37C-A444-0C4E513F9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7B73F-CE66-F08A-D0F2-B56CB006B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5DC05-9DBA-75F0-7F6B-B22B2BF6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429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AA5D3-07AF-CEEC-7F58-F384680D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9EBBF-B55F-A107-740D-DDFDFCE07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59BD2-AFFF-C254-B685-FB1CB1AA2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64E11-18C9-9533-E2DE-4F2797850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40004-E5EA-B897-44FC-4CE2A1CE9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447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75797-47CB-9794-3B94-570302322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91DBE-C5FC-1806-39F4-A4ED4458B2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8261B8-7E92-BF2D-789F-F4441204AB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DCC02B-B9D6-7E21-4A9F-1282179B9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2BC9EE-7CD3-EA48-34B4-DB57E8BB1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8D679E-8FEE-DE4C-39CF-B36AA2FB8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805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A2D91-D60A-1122-C8F6-7A19F73DF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434713-4AA8-50CB-DC40-155F362E1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B293B3-9911-3CFA-3FA3-7D4D98A769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E997ED-7EE5-53E3-F046-DD06A6AB2F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179F9D-9E40-F675-C035-0C277A849A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503828-1926-6A73-B965-0ED700634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3/15/2025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73B61D-B2F8-C30E-FD7E-6CB055BEE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5ECB0E-8C7F-5382-0A12-C49B644BF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392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D71EA-1674-E6A7-8B6D-DB774C640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13707D-E9B5-8DDE-6F91-62F6B2522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3/15/2025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740D2B-17EE-AE90-AEDF-B5AD9B8F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903F5D-7D83-C155-AD88-91E5016B4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351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B8C893-27ED-90E2-2318-727F6EA14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3/15/2025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AA5D6B-1C77-E8AD-F4EC-F4CB2FF9B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72DEC9-240B-6C4F-CF63-CAA638B51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537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F9BE4-D673-8CBE-1266-A69ECDD60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E05E3-EDAA-0B8B-7CF9-4D2B9000F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052BBE-7DCB-0E48-5E31-CF573A0C0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1A5375-A65E-3B8C-EAD6-8747D2292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231456-EE91-0CF7-7B5C-C56DD6606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FCE0ED-C13B-6412-AA7C-65614FF0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039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05B80-B502-A5ED-84D3-B6DAAED97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A8D943-237A-1C8B-0C86-27E516950C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94B727-04B4-CA6B-ACC4-01DBC6EF15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E6806D-7B88-C5C3-298E-EDC31673F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C1251-4D75-A23C-A548-900AF41D3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908E20-8F4E-79DF-3444-1B26BD95D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16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8486C-6077-5E88-CE18-3238D8BFA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61F13-D7F7-4790-DAC9-3A2A7C1184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7D102-750C-5089-1316-3FB5C0F50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69241-72BA-B341-B3BE-8D291EBDE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69D57-F7BE-DB6D-5CB9-96E6ED62A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500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7D26A9-D19A-BCEA-7CA8-80F43B3EE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44CECA-83CB-F1D6-A9FD-B7723D186A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2FF5F-678A-4391-437E-DB47A8377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CD949-32DE-7F34-E7AB-6C13A8810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165D2-6546-32BF-4600-C21D52239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41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799D09-4884-D149-6544-D23DFCEF0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2BB1A-0725-F45D-3D07-E2956ECD0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C9D3D-705E-7DA5-531E-F3E15480E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00389-FD0A-DE53-4FBB-22CC1CAC74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23AD6-DD00-0E7E-2C48-375EB289C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972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6.svg"/><Relationship Id="rId7" Type="http://schemas.openxmlformats.org/officeDocument/2006/relationships/image" Target="../media/image11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9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op view of cubes connected with black lines">
            <a:extLst>
              <a:ext uri="{FF2B5EF4-FFF2-40B4-BE49-F238E27FC236}">
                <a16:creationId xmlns:a16="http://schemas.microsoft.com/office/drawing/2014/main" id="{4BB24834-77C1-A1EA-DF3F-CF04BD6A1A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294" r="18372"/>
          <a:stretch/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3292B3-B57A-8AD8-9202-68E46B8CE8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9"/>
            <a:ext cx="5825448" cy="2209372"/>
          </a:xfrm>
        </p:spPr>
        <p:txBody>
          <a:bodyPr>
            <a:normAutofit/>
          </a:bodyPr>
          <a:lstStyle/>
          <a:p>
            <a:r>
              <a:rPr lang="da-DK" sz="3200" b="1" dirty="0"/>
              <a:t>Shelter Dog Adoption Database Management System</a:t>
            </a:r>
            <a:endParaRPr lang="en-US" sz="3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8AF587-C2B7-E70A-01F1-EBDFC996A2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4785543"/>
            <a:ext cx="5935932" cy="1005657"/>
          </a:xfrm>
        </p:spPr>
        <p:txBody>
          <a:bodyPr>
            <a:normAutofit fontScale="25000" lnSpcReduction="20000"/>
          </a:bodyPr>
          <a:lstStyle/>
          <a:p>
            <a:r>
              <a:rPr lang="en-US" sz="7200" dirty="0"/>
              <a:t>Optimizing Adoption Efficiency &amp; Shelter Management</a:t>
            </a:r>
          </a:p>
          <a:p>
            <a:endParaRPr lang="en-US" sz="7200" dirty="0"/>
          </a:p>
          <a:p>
            <a:r>
              <a:rPr lang="en-US" sz="7200" dirty="0"/>
              <a:t>ISM 6212</a:t>
            </a:r>
          </a:p>
          <a:p>
            <a:r>
              <a:rPr lang="en-US" sz="7200" dirty="0"/>
              <a:t>Selena</a:t>
            </a:r>
          </a:p>
        </p:txBody>
      </p:sp>
    </p:spTree>
    <p:extLst>
      <p:ext uri="{BB962C8B-B14F-4D97-AF65-F5344CB8AC3E}">
        <p14:creationId xmlns:p14="http://schemas.microsoft.com/office/powerpoint/2010/main" val="892992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724BB5-C8A1-01DA-5BEA-D64584106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EB0E4-1C23-A37F-FD00-BB9379153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65" y="2132313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sz="1700" b="1" dirty="0"/>
              <a:t>Automate</a:t>
            </a:r>
            <a:r>
              <a:rPr lang="en-US" sz="1700" dirty="0"/>
              <a:t> adoption matching to improve efficiency</a:t>
            </a:r>
          </a:p>
          <a:p>
            <a:r>
              <a:rPr lang="en-US" sz="1700" b="1" dirty="0"/>
              <a:t>Monitor</a:t>
            </a:r>
            <a:r>
              <a:rPr lang="en-US" sz="1700" dirty="0"/>
              <a:t> shelter capacity and prevent overcrowding</a:t>
            </a:r>
          </a:p>
          <a:p>
            <a:r>
              <a:rPr lang="en-US" sz="1700" b="1" dirty="0"/>
              <a:t>Generate</a:t>
            </a:r>
            <a:r>
              <a:rPr lang="en-US" sz="1700" dirty="0"/>
              <a:t> automated reports for tracking adoptions and operations</a:t>
            </a:r>
          </a:p>
          <a:p>
            <a:r>
              <a:rPr lang="en-US" sz="1700" b="1" dirty="0"/>
              <a:t>Simplify</a:t>
            </a:r>
            <a:r>
              <a:rPr lang="en-US" sz="1700" dirty="0"/>
              <a:t> data entry and search functionality for shelter workers</a:t>
            </a:r>
          </a:p>
          <a:p>
            <a:r>
              <a:rPr lang="en-US" sz="1700" b="1" dirty="0"/>
              <a:t>Visual representation </a:t>
            </a:r>
            <a:r>
              <a:rPr lang="en-US" sz="1700" dirty="0"/>
              <a:t>of tables and relationships</a:t>
            </a:r>
          </a:p>
          <a:p>
            <a:r>
              <a:rPr lang="en-US" sz="1700" b="1" dirty="0"/>
              <a:t>Ensures</a:t>
            </a:r>
            <a:r>
              <a:rPr lang="en-US" sz="1700" dirty="0"/>
              <a:t> data integrity and efficient structure</a:t>
            </a:r>
          </a:p>
          <a:p>
            <a:endParaRPr lang="en-US" sz="1700" dirty="0"/>
          </a:p>
        </p:txBody>
      </p:sp>
      <p:pic>
        <p:nvPicPr>
          <p:cNvPr id="5" name="Picture 4" descr="Drawings on colorful paper">
            <a:extLst>
              <a:ext uri="{FF2B5EF4-FFF2-40B4-BE49-F238E27FC236}">
                <a16:creationId xmlns:a16="http://schemas.microsoft.com/office/drawing/2014/main" id="{E054525B-7EC0-8CEB-6046-E76216C58B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96" r="35367" b="-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94344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ompany&#10;&#10;AI-generated content may be incorrect.">
            <a:extLst>
              <a:ext uri="{FF2B5EF4-FFF2-40B4-BE49-F238E27FC236}">
                <a16:creationId xmlns:a16="http://schemas.microsoft.com/office/drawing/2014/main" id="{C174E896-5842-E128-54A8-F1C66A6EA1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087" y="270811"/>
            <a:ext cx="10167826" cy="631637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993F863-1485-4494-9771-F831A73D9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379" y="-862355"/>
            <a:ext cx="4195674" cy="2052522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ER Diagram</a:t>
            </a:r>
          </a:p>
        </p:txBody>
      </p:sp>
    </p:spTree>
    <p:extLst>
      <p:ext uri="{BB962C8B-B14F-4D97-AF65-F5344CB8AC3E}">
        <p14:creationId xmlns:p14="http://schemas.microsoft.com/office/powerpoint/2010/main" val="3109015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E673C5-AFF2-C9F7-7DD5-71F19D9A4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51" y="863600"/>
            <a:ext cx="11664298" cy="550693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6A10A5C-3D69-35F6-38EC-A2EB21504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0" y="-1026261"/>
            <a:ext cx="4759053" cy="2052522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Relational Schema</a:t>
            </a:r>
          </a:p>
        </p:txBody>
      </p:sp>
    </p:spTree>
    <p:extLst>
      <p:ext uri="{BB962C8B-B14F-4D97-AF65-F5344CB8AC3E}">
        <p14:creationId xmlns:p14="http://schemas.microsoft.com/office/powerpoint/2010/main" val="729054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DE6A00-3462-C53B-3709-EB23B075A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7479" y="242545"/>
            <a:ext cx="4195674" cy="2052522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Key Forms and Features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White puppy on the street">
            <a:extLst>
              <a:ext uri="{FF2B5EF4-FFF2-40B4-BE49-F238E27FC236}">
                <a16:creationId xmlns:a16="http://schemas.microsoft.com/office/drawing/2014/main" id="{CF35759D-1027-C621-0B79-AD9EC0081D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48" r="14001" b="-2"/>
          <a:stretch/>
        </p:blipFill>
        <p:spPr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20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4CEA1-99F1-CFE1-8BC0-42FF77C28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7479" y="2766092"/>
            <a:ext cx="4594052" cy="3305522"/>
          </a:xfrm>
        </p:spPr>
        <p:txBody>
          <a:bodyPr anchor="t">
            <a:normAutofit/>
          </a:bodyPr>
          <a:lstStyle/>
          <a:p>
            <a:r>
              <a:rPr lang="en-US" sz="1700" b="1" dirty="0">
                <a:solidFill>
                  <a:schemeClr val="tx1">
                    <a:alpha val="80000"/>
                  </a:schemeClr>
                </a:solidFill>
              </a:rPr>
              <a:t>Dog Registration Form: 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Stores detailed dog info</a:t>
            </a:r>
          </a:p>
          <a:p>
            <a:r>
              <a:rPr lang="en-US" sz="1700" b="1" dirty="0">
                <a:solidFill>
                  <a:schemeClr val="tx1">
                    <a:alpha val="80000"/>
                  </a:schemeClr>
                </a:solidFill>
              </a:rPr>
              <a:t>Adopter Profile Form: 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Captures adopter preferences</a:t>
            </a:r>
          </a:p>
          <a:p>
            <a:r>
              <a:rPr lang="en-US" sz="1700" b="1" dirty="0">
                <a:solidFill>
                  <a:schemeClr val="tx1">
                    <a:alpha val="80000"/>
                  </a:schemeClr>
                </a:solidFill>
              </a:rPr>
              <a:t>Search &amp; Match Form: 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Finds best adoption matches dynamically</a:t>
            </a:r>
          </a:p>
          <a:p>
            <a:r>
              <a:rPr lang="en-US" sz="1700" b="1" dirty="0">
                <a:solidFill>
                  <a:schemeClr val="tx1">
                    <a:alpha val="80000"/>
                  </a:schemeClr>
                </a:solidFill>
              </a:rPr>
              <a:t>Shelter Management Form: 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Tracks available dogs and occupancy levels</a:t>
            </a:r>
          </a:p>
          <a:p>
            <a:r>
              <a:rPr lang="en-US" sz="1700" b="1" dirty="0">
                <a:solidFill>
                  <a:schemeClr val="tx1">
                    <a:alpha val="80000"/>
                  </a:schemeClr>
                </a:solidFill>
              </a:rPr>
              <a:t>Overcapacity Alert: 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Triggers when shelter capacity exceeds 70%</a:t>
            </a:r>
          </a:p>
          <a:p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24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6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3171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A55162-0D6A-C643-CC01-35ABC1571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Technical Demonstration – Query Automation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B00F7C-226C-4420-37C7-689E704EDE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746136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29313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rson holding a puzzle piece">
            <a:extLst>
              <a:ext uri="{FF2B5EF4-FFF2-40B4-BE49-F238E27FC236}">
                <a16:creationId xmlns:a16="http://schemas.microsoft.com/office/drawing/2014/main" id="{A71A4461-EBD5-B3D9-A602-D7801BBAAB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439" r="23113" b="-1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5A201D-15C1-B15B-FA50-2B8E143D1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 b="1" dirty="0"/>
              <a:t>Macros &amp;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0186D-1D98-D2FA-C87C-B047DEE16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7428" y="2623931"/>
            <a:ext cx="5247340" cy="3496878"/>
          </a:xfrm>
        </p:spPr>
        <p:txBody>
          <a:bodyPr anchor="ctr">
            <a:normAutofit/>
          </a:bodyPr>
          <a:lstStyle/>
          <a:p>
            <a:r>
              <a:rPr lang="en-US" sz="1700" b="1" dirty="0"/>
              <a:t>Overcapacity Alert Macro: </a:t>
            </a:r>
            <a:r>
              <a:rPr lang="en-US" sz="1700" dirty="0"/>
              <a:t>Warns when shelter exceeds capacity</a:t>
            </a:r>
          </a:p>
          <a:p>
            <a:r>
              <a:rPr lang="en-US" sz="1700" b="1" dirty="0"/>
              <a:t>Search &amp; Match Form Automation: </a:t>
            </a:r>
            <a:r>
              <a:rPr lang="en-US" sz="1700" dirty="0"/>
              <a:t>Instantly retrieves best matches for adopters</a:t>
            </a:r>
          </a:p>
          <a:p>
            <a:r>
              <a:rPr lang="en-US" sz="1700" b="1" dirty="0"/>
              <a:t>Report Automation</a:t>
            </a:r>
            <a:r>
              <a:rPr lang="en-US" sz="1700" dirty="0"/>
              <a:t>: Generates adoption confirmation and shelter occupancy reports</a:t>
            </a:r>
          </a:p>
          <a:p>
            <a:r>
              <a:rPr lang="en-US" sz="1700" dirty="0"/>
              <a:t>Reduces manual workload and improves efficiency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4238788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A5FBC5-158A-7956-B27F-C0A6FB4A6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Reports and Documentation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75E456F-C6E0-E5E8-DE8C-649D046BECCA}"/>
              </a:ext>
            </a:extLst>
          </p:cNvPr>
          <p:cNvGrpSpPr/>
          <p:nvPr/>
        </p:nvGrpSpPr>
        <p:grpSpPr>
          <a:xfrm>
            <a:off x="744738" y="2900785"/>
            <a:ext cx="10726464" cy="2616392"/>
            <a:chOff x="744738" y="2900785"/>
            <a:chExt cx="10726464" cy="261639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AAC4FD0-9F68-34E6-F76C-DF2778F60187}"/>
                </a:ext>
              </a:extLst>
            </p:cNvPr>
            <p:cNvSpPr/>
            <p:nvPr/>
          </p:nvSpPr>
          <p:spPr>
            <a:xfrm>
              <a:off x="1206983" y="2900785"/>
              <a:ext cx="1445998" cy="1445998"/>
            </a:xfrm>
            <a:prstGeom prst="ellipse">
              <a:avLst/>
            </a:prstGeom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Rectangle 6" descr="Checkmark">
              <a:extLst>
                <a:ext uri="{FF2B5EF4-FFF2-40B4-BE49-F238E27FC236}">
                  <a16:creationId xmlns:a16="http://schemas.microsoft.com/office/drawing/2014/main" id="{ED323850-DF20-13A9-A1EF-1A6E063A5855}"/>
                </a:ext>
              </a:extLst>
            </p:cNvPr>
            <p:cNvSpPr/>
            <p:nvPr/>
          </p:nvSpPr>
          <p:spPr>
            <a:xfrm>
              <a:off x="1515147" y="3208949"/>
              <a:ext cx="829671" cy="829671"/>
            </a:xfrm>
            <a:prstGeom prst="rect">
              <a:avLst/>
            </a:prstGeom>
            <a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5427512-ECCC-C3F3-EFF7-7B897D7D817E}"/>
                </a:ext>
              </a:extLst>
            </p:cNvPr>
            <p:cNvSpPr/>
            <p:nvPr/>
          </p:nvSpPr>
          <p:spPr>
            <a:xfrm>
              <a:off x="744738" y="4797177"/>
              <a:ext cx="2370489" cy="720000"/>
            </a:xfrm>
            <a:custGeom>
              <a:avLst/>
              <a:gdLst>
                <a:gd name="connsiteX0" fmla="*/ 0 w 2370489"/>
                <a:gd name="connsiteY0" fmla="*/ 0 h 720000"/>
                <a:gd name="connsiteX1" fmla="*/ 2370489 w 2370489"/>
                <a:gd name="connsiteY1" fmla="*/ 0 h 720000"/>
                <a:gd name="connsiteX2" fmla="*/ 2370489 w 2370489"/>
                <a:gd name="connsiteY2" fmla="*/ 720000 h 720000"/>
                <a:gd name="connsiteX3" fmla="*/ 0 w 2370489"/>
                <a:gd name="connsiteY3" fmla="*/ 720000 h 720000"/>
                <a:gd name="connsiteX4" fmla="*/ 0 w 2370489"/>
                <a:gd name="connsiteY4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0489" h="720000">
                  <a:moveTo>
                    <a:pt x="0" y="0"/>
                  </a:moveTo>
                  <a:lnTo>
                    <a:pt x="2370489" y="0"/>
                  </a:lnTo>
                  <a:lnTo>
                    <a:pt x="2370489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accent2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accen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accent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cap="all"/>
              </a:pPr>
              <a:r>
                <a:rPr lang="en-US" sz="1400" b="1" kern="1200" dirty="0"/>
                <a:t>Adoption Confirmation Report: </a:t>
              </a:r>
              <a:r>
                <a:rPr lang="en-US" sz="1400" kern="1200" dirty="0"/>
                <a:t>Details completed adoptions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3DCB025-BA00-E77D-3934-36A721C04A82}"/>
                </a:ext>
              </a:extLst>
            </p:cNvPr>
            <p:cNvSpPr/>
            <p:nvPr/>
          </p:nvSpPr>
          <p:spPr>
            <a:xfrm>
              <a:off x="3992308" y="2900785"/>
              <a:ext cx="1445998" cy="1445998"/>
            </a:xfrm>
            <a:prstGeom prst="ellipse">
              <a:avLst/>
            </a:prstGeom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Rectangle 11" descr="Tent">
              <a:extLst>
                <a:ext uri="{FF2B5EF4-FFF2-40B4-BE49-F238E27FC236}">
                  <a16:creationId xmlns:a16="http://schemas.microsoft.com/office/drawing/2014/main" id="{85D66527-22AE-3DFF-5D16-375A76141DF7}"/>
                </a:ext>
              </a:extLst>
            </p:cNvPr>
            <p:cNvSpPr/>
            <p:nvPr/>
          </p:nvSpPr>
          <p:spPr>
            <a:xfrm>
              <a:off x="4300472" y="3208949"/>
              <a:ext cx="829671" cy="829671"/>
            </a:xfrm>
            <a:prstGeom prst="rect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0CF192-2DCF-09A4-2004-5F00D8760EF0}"/>
                </a:ext>
              </a:extLst>
            </p:cNvPr>
            <p:cNvSpPr/>
            <p:nvPr/>
          </p:nvSpPr>
          <p:spPr>
            <a:xfrm>
              <a:off x="3530063" y="4797177"/>
              <a:ext cx="2370489" cy="720000"/>
            </a:xfrm>
            <a:custGeom>
              <a:avLst/>
              <a:gdLst>
                <a:gd name="connsiteX0" fmla="*/ 0 w 2370489"/>
                <a:gd name="connsiteY0" fmla="*/ 0 h 720000"/>
                <a:gd name="connsiteX1" fmla="*/ 2370489 w 2370489"/>
                <a:gd name="connsiteY1" fmla="*/ 0 h 720000"/>
                <a:gd name="connsiteX2" fmla="*/ 2370489 w 2370489"/>
                <a:gd name="connsiteY2" fmla="*/ 720000 h 720000"/>
                <a:gd name="connsiteX3" fmla="*/ 0 w 2370489"/>
                <a:gd name="connsiteY3" fmla="*/ 720000 h 720000"/>
                <a:gd name="connsiteX4" fmla="*/ 0 w 2370489"/>
                <a:gd name="connsiteY4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0489" h="720000">
                  <a:moveTo>
                    <a:pt x="0" y="0"/>
                  </a:moveTo>
                  <a:lnTo>
                    <a:pt x="2370489" y="0"/>
                  </a:lnTo>
                  <a:lnTo>
                    <a:pt x="2370489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accent2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accen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accent3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cap="all"/>
              </a:pPr>
              <a:r>
                <a:rPr lang="en-US" sz="1400" b="1" kern="1200" dirty="0"/>
                <a:t>Shelter Occupancy Report: </a:t>
              </a:r>
              <a:r>
                <a:rPr lang="en-US" sz="1400" kern="1200" dirty="0"/>
                <a:t>Lists shelters, their capacity, and occupancy levels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732BF48-FC5A-1666-CAB1-E6A5C950E6AA}"/>
                </a:ext>
              </a:extLst>
            </p:cNvPr>
            <p:cNvSpPr/>
            <p:nvPr/>
          </p:nvSpPr>
          <p:spPr>
            <a:xfrm>
              <a:off x="6777633" y="2900785"/>
              <a:ext cx="1445998" cy="1445998"/>
            </a:xfrm>
            <a:prstGeom prst="ellipse">
              <a:avLst/>
            </a:prstGeom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16" descr="Dog">
              <a:extLst>
                <a:ext uri="{FF2B5EF4-FFF2-40B4-BE49-F238E27FC236}">
                  <a16:creationId xmlns:a16="http://schemas.microsoft.com/office/drawing/2014/main" id="{96101F2F-9EFE-7902-CE7E-1A8E238A8C14}"/>
                </a:ext>
              </a:extLst>
            </p:cNvPr>
            <p:cNvSpPr/>
            <p:nvPr/>
          </p:nvSpPr>
          <p:spPr>
            <a:xfrm>
              <a:off x="7085797" y="3208949"/>
              <a:ext cx="829671" cy="829671"/>
            </a:xfrm>
            <a:prstGeom prst="rect">
              <a:avLst/>
            </a:prstGeom>
            <a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29A3041-2F63-1084-13BB-79BA0E80CC42}"/>
                </a:ext>
              </a:extLst>
            </p:cNvPr>
            <p:cNvSpPr/>
            <p:nvPr/>
          </p:nvSpPr>
          <p:spPr>
            <a:xfrm>
              <a:off x="6315388" y="4797177"/>
              <a:ext cx="2370489" cy="720000"/>
            </a:xfrm>
            <a:custGeom>
              <a:avLst/>
              <a:gdLst>
                <a:gd name="connsiteX0" fmla="*/ 0 w 2370489"/>
                <a:gd name="connsiteY0" fmla="*/ 0 h 720000"/>
                <a:gd name="connsiteX1" fmla="*/ 2370489 w 2370489"/>
                <a:gd name="connsiteY1" fmla="*/ 0 h 720000"/>
                <a:gd name="connsiteX2" fmla="*/ 2370489 w 2370489"/>
                <a:gd name="connsiteY2" fmla="*/ 720000 h 720000"/>
                <a:gd name="connsiteX3" fmla="*/ 0 w 2370489"/>
                <a:gd name="connsiteY3" fmla="*/ 720000 h 720000"/>
                <a:gd name="connsiteX4" fmla="*/ 0 w 2370489"/>
                <a:gd name="connsiteY4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0489" h="720000">
                  <a:moveTo>
                    <a:pt x="0" y="0"/>
                  </a:moveTo>
                  <a:lnTo>
                    <a:pt x="2370489" y="0"/>
                  </a:lnTo>
                  <a:lnTo>
                    <a:pt x="2370489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accent2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accen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accent4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cap="all"/>
              </a:pPr>
              <a:r>
                <a:rPr lang="en-US" sz="1400" b="1" kern="1200" dirty="0"/>
                <a:t>Dog Matching Report: </a:t>
              </a:r>
              <a:r>
                <a:rPr lang="en-US" sz="1400" kern="1200" dirty="0"/>
                <a:t>Provides ranked matches for adopters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0BAB902-B756-E6F4-6F8E-F97146FF980F}"/>
                </a:ext>
              </a:extLst>
            </p:cNvPr>
            <p:cNvSpPr/>
            <p:nvPr/>
          </p:nvSpPr>
          <p:spPr>
            <a:xfrm>
              <a:off x="9562958" y="2900785"/>
              <a:ext cx="1445998" cy="1445998"/>
            </a:xfrm>
            <a:prstGeom prst="ellipse">
              <a:avLst/>
            </a:prstGeom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19" descr="Research">
              <a:extLst>
                <a:ext uri="{FF2B5EF4-FFF2-40B4-BE49-F238E27FC236}">
                  <a16:creationId xmlns:a16="http://schemas.microsoft.com/office/drawing/2014/main" id="{E84A6EB4-2A48-C2DE-6804-6976F0994868}"/>
                </a:ext>
              </a:extLst>
            </p:cNvPr>
            <p:cNvSpPr/>
            <p:nvPr/>
          </p:nvSpPr>
          <p:spPr>
            <a:xfrm>
              <a:off x="9871122" y="3208949"/>
              <a:ext cx="829671" cy="829671"/>
            </a:xfrm>
            <a:prstGeom prst="rect">
              <a:avLst/>
            </a:prstGeom>
            <a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2190B3C-6EEF-9EC3-8260-0F08D4A01666}"/>
                </a:ext>
              </a:extLst>
            </p:cNvPr>
            <p:cNvSpPr/>
            <p:nvPr/>
          </p:nvSpPr>
          <p:spPr>
            <a:xfrm>
              <a:off x="9100713" y="4797177"/>
              <a:ext cx="2370489" cy="720000"/>
            </a:xfrm>
            <a:custGeom>
              <a:avLst/>
              <a:gdLst>
                <a:gd name="connsiteX0" fmla="*/ 0 w 2370489"/>
                <a:gd name="connsiteY0" fmla="*/ 0 h 720000"/>
                <a:gd name="connsiteX1" fmla="*/ 2370489 w 2370489"/>
                <a:gd name="connsiteY1" fmla="*/ 0 h 720000"/>
                <a:gd name="connsiteX2" fmla="*/ 2370489 w 2370489"/>
                <a:gd name="connsiteY2" fmla="*/ 720000 h 720000"/>
                <a:gd name="connsiteX3" fmla="*/ 0 w 2370489"/>
                <a:gd name="connsiteY3" fmla="*/ 720000 h 720000"/>
                <a:gd name="connsiteX4" fmla="*/ 0 w 2370489"/>
                <a:gd name="connsiteY4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0489" h="720000">
                  <a:moveTo>
                    <a:pt x="0" y="0"/>
                  </a:moveTo>
                  <a:lnTo>
                    <a:pt x="2370489" y="0"/>
                  </a:lnTo>
                  <a:lnTo>
                    <a:pt x="2370489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accent2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accen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accent5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cap="all"/>
              </a:pPr>
              <a:r>
                <a:rPr lang="en-US" sz="1400" kern="1200"/>
                <a:t>Ensures transparency, tracking, and efficient decision-making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1214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EC7D03-402B-F5F4-CC46-F57B8129B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214" y="732552"/>
            <a:ext cx="5311392" cy="2148841"/>
          </a:xfrm>
        </p:spPr>
        <p:txBody>
          <a:bodyPr anchor="t">
            <a:normAutofit/>
          </a:bodyPr>
          <a:lstStyle/>
          <a:p>
            <a:r>
              <a:rPr lang="en-US" sz="4000" b="1" dirty="0"/>
              <a:t>Post-Mortem Analysis – Lessons Learned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CF8094-5CB4-5DEB-AC96-8CDD2F2C70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45" b="-2"/>
          <a:stretch/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FFCE6-367B-FFE3-BF97-CFE192FC5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9820" y="996024"/>
            <a:ext cx="4555782" cy="5445076"/>
          </a:xfrm>
        </p:spPr>
        <p:txBody>
          <a:bodyPr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/>
              <a:t>• </a:t>
            </a:r>
            <a:r>
              <a:rPr lang="en-US" sz="1800" b="1" dirty="0"/>
              <a:t>What Went Well:</a:t>
            </a:r>
          </a:p>
          <a:p>
            <a:pPr marL="0" indent="0">
              <a:buNone/>
            </a:pPr>
            <a:r>
              <a:rPr lang="en-US" sz="1800" dirty="0"/>
              <a:t>- Automated matching system optimized efficiency - Overcapacity alerts improved shelter monitoring</a:t>
            </a:r>
          </a:p>
          <a:p>
            <a:pPr marL="0" indent="0">
              <a:buNone/>
            </a:pPr>
            <a:r>
              <a:rPr lang="en-US" sz="1800" dirty="0"/>
              <a:t>- Forms, reports, and automation enhanced usability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• Challenges Faced:</a:t>
            </a:r>
          </a:p>
          <a:p>
            <a:pPr marL="0" indent="0">
              <a:buNone/>
            </a:pPr>
            <a:r>
              <a:rPr lang="en-US" sz="1800" dirty="0"/>
              <a:t>- SQL JOIN errors led to duplicate matches</a:t>
            </a:r>
          </a:p>
          <a:p>
            <a:pPr marL="0" indent="0">
              <a:buNone/>
            </a:pPr>
            <a:r>
              <a:rPr lang="en-US" sz="1800" dirty="0"/>
              <a:t>- Adoption status updates required fine-tuning</a:t>
            </a:r>
          </a:p>
          <a:p>
            <a:pPr marL="0" indent="0">
              <a:buNone/>
            </a:pPr>
            <a:r>
              <a:rPr lang="en-US" sz="1800" dirty="0"/>
              <a:t>- Query performance needed optimization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• Future Improvements:</a:t>
            </a:r>
          </a:p>
          <a:p>
            <a:pPr marL="0" indent="0">
              <a:buNone/>
            </a:pPr>
            <a:r>
              <a:rPr lang="en-US" sz="1800" dirty="0"/>
              <a:t>- Expand the dataset with more behavioral and lifestyle columns</a:t>
            </a:r>
          </a:p>
          <a:p>
            <a:pPr marL="0" indent="0">
              <a:buNone/>
            </a:pPr>
            <a:r>
              <a:rPr lang="en-US" sz="1800" dirty="0"/>
              <a:t>- Build additional reports and labels</a:t>
            </a:r>
          </a:p>
          <a:p>
            <a:pPr marL="0" indent="0">
              <a:buNone/>
            </a:pPr>
            <a:r>
              <a:rPr lang="en-US" sz="1800" dirty="0"/>
              <a:t>- Improve query efficiency and automation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93753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96C422-9150-B4BF-909C-89DF9B8F7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Key Takeaways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CC758D99-9866-6C16-2EF8-5E6EC343AD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481571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1071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79F835-B20E-2C12-ACF4-527748124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84683"/>
            <a:ext cx="9144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 for your time</a:t>
            </a:r>
          </a:p>
        </p:txBody>
      </p:sp>
    </p:spTree>
    <p:extLst>
      <p:ext uri="{BB962C8B-B14F-4D97-AF65-F5344CB8AC3E}">
        <p14:creationId xmlns:p14="http://schemas.microsoft.com/office/powerpoint/2010/main" val="1761654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363</Words>
  <Application>Microsoft Office PowerPoint</Application>
  <PresentationFormat>Widescreen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Shelter Dog Adoption Database Management System</vt:lpstr>
      <vt:lpstr>Project Objectives</vt:lpstr>
      <vt:lpstr>ER Diagram</vt:lpstr>
      <vt:lpstr>Relational Schema</vt:lpstr>
      <vt:lpstr>Key Forms and Features</vt:lpstr>
      <vt:lpstr>Technical Demonstration – Query Automation</vt:lpstr>
      <vt:lpstr>Macros &amp; Automation</vt:lpstr>
      <vt:lpstr>Reports and Documentation</vt:lpstr>
      <vt:lpstr>Post-Mortem Analysis – Lessons Learned</vt:lpstr>
      <vt:lpstr>Key Takeaways</vt:lpstr>
      <vt:lpstr>Thank you for your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 Yeong Cha</dc:creator>
  <cp:lastModifiedBy>So Yeong Cha</cp:lastModifiedBy>
  <cp:revision>2</cp:revision>
  <dcterms:created xsi:type="dcterms:W3CDTF">2025-03-15T11:30:10Z</dcterms:created>
  <dcterms:modified xsi:type="dcterms:W3CDTF">2025-03-15T12:32:38Z</dcterms:modified>
</cp:coreProperties>
</file>